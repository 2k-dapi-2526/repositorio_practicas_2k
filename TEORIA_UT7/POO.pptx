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497B15-4EFB-66D2-41B6-560590095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6D7025-A777-45B2-5D81-49D64DA24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41FA95-4D1D-7579-8CDD-DC85B4035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4AC9BD-5A3F-19C4-BC18-63F2BFB09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78244B-AED3-6738-FCAA-B04E05DD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95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7A5D58-1732-BF27-9C37-3C2679732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181996-D230-B67B-AF14-C24525D51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14BBBF-AE8E-01B9-403B-6030A2B2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92A360-5008-B438-5DFA-C2267CFF3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99AD86-86C7-03BA-48FB-B3507DC05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8217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6913CC-81CE-F8E6-013A-2FC15E847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664BAE-7F2B-E7A2-47D4-4959F9B6E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022155-7A76-0F85-04A3-18C7B7F13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57BC1E-F4AD-C245-9B42-DB7F33E0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C765C5-CA71-6F99-E526-FC690EFE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4861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BDCAC-C9E4-D936-747B-119DD58F4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83EAF1-0544-85E2-B2F5-35C4F5FE7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480BF8-7D67-007E-2D39-AD2D817740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70441B-4DE6-9B8E-4DCF-6D0321AF2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1C53CC-6A45-5BCE-92B3-2DB376564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169D2E-4B7E-E2E9-8055-48D7B926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782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BA1CE-D365-1DB6-ADD9-DC262B108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5F3E4F-9CD6-495C-C061-1AE093985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91CE94-8ACC-3ADA-58D3-677759BE5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5C6447-A729-84C3-33A2-F6B0B4E64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0F252AA-1A6E-1146-1752-4282ABE891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76F8F13-21BB-4BF5-2DE1-4149EBD8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2E69A69-E275-6F59-5BF1-073575DEC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88FC13A-4607-9163-ABD4-5A20D17F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721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829D93-4D5D-D922-F473-AD00815F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DAA00A-EBC3-3D93-C66B-798124EB0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5437D5E-4CD0-D28F-EB95-EC61DE5D9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4C9475-68DB-73B4-5452-7CFFFDB8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3727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143AC8B-B197-35DA-ED76-A7A92A9FA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3CD165A-19CF-2E86-37CA-2C074DE9C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7CBBBD-1530-7BAA-F122-3B0C4013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910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C4089-2AF5-43DC-1F87-3F9A79674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9161DB-21F8-E9AA-6723-A65C73653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573261-4264-A8EE-5F76-0D78125E5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916B7A-665C-54A3-42C2-D9B47AB90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9C71D4-F4F1-DEAA-4B2B-6DA8C3D41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6F4DCB-D940-3EE7-C73A-A2B42115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5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DC6E8-27B3-520A-6924-65AF31164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B737A8-58E2-5040-F032-D1ABB7952E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FF6FEC-003D-9E17-DFB9-9F32355CD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3EDD11-83B6-3E6E-F8B0-4CD018E1C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EB9698-2DBC-C330-E832-7BFE8EE7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978A5D-BF3E-1178-EBAC-A4B4CDEB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26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31A0C-DE18-A716-2706-5BECDBAC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A36EB5-8D34-D84E-FCC6-AC8E901CE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80D5F7-3B4C-DAE4-BFE7-36B856633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34BDA5-E5B2-1967-CB28-88E5CBBA3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E57419-4A97-CEDE-766D-29F38FFDC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8590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4882C16-D5D1-76DA-EAEF-6BC9F0123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B5B93B-E67D-0BE6-22D3-7BAFFC98A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7C6F8B-D45A-EFB9-D66D-11D1FCC78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362E7A-0809-6F64-6F76-7B0D92A0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6701AC-7828-91D6-917B-8C85C504A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930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BA97F1-4DF1-B343-ABFD-E4506D0D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45AB69-867E-3D5F-CD24-8EB761868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9EB0E9-1BA0-411E-14A0-DABB1B5935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676E9-D5CF-473D-9FE3-AAE9EBF5B904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CFC24B-2CDF-7118-9CAF-606366D2E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A317A2-3572-97F0-1F55-30FE91424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AE357-AA31-4296-8F33-2F6357BCA3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210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EF28B-CBF4-ECCE-2509-C986A39A5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Programación </a:t>
            </a:r>
            <a:r>
              <a:rPr lang="es-ES" dirty="0"/>
              <a:t>orientada a objetos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3EA843-003F-C28A-4073-5D02316B39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Javier Granda</a:t>
            </a:r>
          </a:p>
          <a:p>
            <a:r>
              <a:rPr lang="es-ES" dirty="0"/>
              <a:t>DAPI 2K 25/26</a:t>
            </a:r>
          </a:p>
        </p:txBody>
      </p:sp>
    </p:spTree>
    <p:extLst>
      <p:ext uri="{BB962C8B-B14F-4D97-AF65-F5344CB8AC3E}">
        <p14:creationId xmlns:p14="http://schemas.microsoft.com/office/powerpoint/2010/main" val="3009684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2F5274-46AA-C575-66E6-1676B7DAE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1 - ¿Qué es la programación orientada a objetos?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803E91-1BA3-11A8-817D-97FF7EF70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Python también permite la programación orientada a objetos, que es un paradigma de la programación.</a:t>
            </a:r>
          </a:p>
          <a:p>
            <a:endParaRPr lang="es-ES" dirty="0"/>
          </a:p>
          <a:p>
            <a:r>
              <a:rPr lang="es-ES" dirty="0"/>
              <a:t> Los datos, se agrupan por clases, atributos y/o funciones.</a:t>
            </a:r>
          </a:p>
          <a:p>
            <a:endParaRPr lang="es-ES" dirty="0"/>
          </a:p>
          <a:p>
            <a:r>
              <a:rPr lang="es-ES" dirty="0"/>
              <a:t>Es decir, cada “clase” de dato, tendrá sus “atributos” y sus “métodos”</a:t>
            </a:r>
          </a:p>
          <a:p>
            <a:endParaRPr lang="es-ES" dirty="0"/>
          </a:p>
          <a:p>
            <a:r>
              <a:rPr lang="es-ES" i="1" dirty="0"/>
              <a:t>Nota aclaratoria: las clases son únicas. Objetos particulares de esa clase puede haber muchos (desde cero hasta lo que quepa en la memoria </a:t>
            </a:r>
            <a:r>
              <a:rPr lang="es-ES" i="1" dirty="0" err="1"/>
              <a:t>ram</a:t>
            </a:r>
            <a:r>
              <a:rPr lang="es-ES" i="1" dirty="0"/>
              <a:t>), y cada uno de ellos va a evolucionar de manera independiente a lo largo de la ejecución del programa.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5383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1483A-2A51-77BE-5ABA-CF4AFD6A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1.1 Las clases y sus atributos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2AAF2A-14D1-9E14-8D53-427DE5981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Una clase se define por un tipo o una tipología de dato que tiene unos atributos concretos y que todos los objetos pertenecientes a esa clase comparten. </a:t>
            </a:r>
          </a:p>
          <a:p>
            <a:r>
              <a:rPr lang="es-ES" dirty="0"/>
              <a:t>Por ejemplo, podemos decir, que para el tipo o “clase” de dato </a:t>
            </a:r>
            <a:r>
              <a:rPr lang="es-ES" i="1" dirty="0"/>
              <a:t>Tarjeta</a:t>
            </a:r>
            <a:r>
              <a:rPr lang="es-ES" dirty="0"/>
              <a:t>, se definen los siguientes “atributos”:</a:t>
            </a:r>
          </a:p>
          <a:p>
            <a:pPr lvl="1"/>
            <a:r>
              <a:rPr lang="es-ES" dirty="0"/>
              <a:t>Número o PIN de tarjeta</a:t>
            </a:r>
          </a:p>
          <a:p>
            <a:pPr lvl="1"/>
            <a:r>
              <a:rPr lang="es-ES" dirty="0"/>
              <a:t>Fecha de caducidad</a:t>
            </a:r>
          </a:p>
          <a:p>
            <a:pPr lvl="1"/>
            <a:r>
              <a:rPr lang="es-ES" dirty="0"/>
              <a:t>Nombre o Titular de la tarjeta</a:t>
            </a:r>
          </a:p>
          <a:p>
            <a:pPr lvl="1"/>
            <a:r>
              <a:rPr lang="es-ES" dirty="0"/>
              <a:t>Entidad bancaria</a:t>
            </a:r>
          </a:p>
          <a:p>
            <a:pPr marL="457200" lvl="1" indent="0">
              <a:buNone/>
            </a:pPr>
            <a:r>
              <a:rPr lang="es-ES" dirty="0"/>
              <a:t>Podemos decir entonces que </a:t>
            </a:r>
            <a:r>
              <a:rPr lang="es-ES" b="1" dirty="0"/>
              <a:t>todos</a:t>
            </a:r>
            <a:r>
              <a:rPr lang="es-ES" dirty="0"/>
              <a:t> los “objetos” pertenecientes a la “clase” de datos </a:t>
            </a:r>
            <a:r>
              <a:rPr lang="es-ES" i="1" dirty="0"/>
              <a:t>Tarjeta</a:t>
            </a:r>
            <a:r>
              <a:rPr lang="es-ES" dirty="0"/>
              <a:t>, tienen en común una serie de atributos que comparten y que son inherentes a esta clase de datos definida.</a:t>
            </a:r>
          </a:p>
          <a:p>
            <a:pPr lvl="1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448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FB12B-5523-9D3C-0768-51176C80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1.2 Las clases y sus métodos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BDCC1F-3FD3-305E-D36F-9E980D3E7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Los métodos de cada clase se pueden definir como las funciones que puede realizar cada clase de datos. Por ejemplo, podríamos decir que los métodos del tipo de dato </a:t>
            </a:r>
            <a:r>
              <a:rPr lang="es-ES" i="1" dirty="0"/>
              <a:t>Tarjeta</a:t>
            </a:r>
            <a:r>
              <a:rPr lang="es-ES" dirty="0"/>
              <a:t>, tendría los siguientes métodos o funciones:</a:t>
            </a:r>
          </a:p>
          <a:p>
            <a:pPr lvl="1"/>
            <a:r>
              <a:rPr lang="es-ES" i="1" dirty="0"/>
              <a:t>Activar tarjeta</a:t>
            </a:r>
          </a:p>
          <a:p>
            <a:pPr lvl="1"/>
            <a:r>
              <a:rPr lang="es-ES" i="1" dirty="0"/>
              <a:t>Pagar con tarjeta</a:t>
            </a:r>
          </a:p>
          <a:p>
            <a:pPr lvl="1"/>
            <a:r>
              <a:rPr lang="es-ES" i="1" dirty="0"/>
              <a:t>Anular tarjeta</a:t>
            </a:r>
          </a:p>
        </p:txBody>
      </p:sp>
    </p:spTree>
    <p:extLst>
      <p:ext uri="{BB962C8B-B14F-4D97-AF65-F5344CB8AC3E}">
        <p14:creationId xmlns:p14="http://schemas.microsoft.com/office/powerpoint/2010/main" val="1851077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46A848-8714-4BCE-1C26-D489184EC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923"/>
            <a:ext cx="10515600" cy="5817040"/>
          </a:xfrm>
        </p:spPr>
        <p:txBody>
          <a:bodyPr/>
          <a:lstStyle/>
          <a:p>
            <a:r>
              <a:rPr lang="es-ES" dirty="0"/>
              <a:t>Para hacer un resumen, podríamos decir que los objetos pertenecientes al tipo de dato Tarjeta tienen los siguientes atributos y funciones: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E112AC-D907-421B-F534-417E95D6E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967" y="2231079"/>
            <a:ext cx="74104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031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3DF1C1-8D45-6FAD-A0EC-6160D925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2-Acceso a los atributos y métodos de un objeto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544DEE-4644-3C72-B2FB-EFA38C4C2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En Python, los tipos de datos primitivos son también objetos que tienen asociados atributos y métodos.</a:t>
            </a:r>
          </a:p>
          <a:p>
            <a:r>
              <a:rPr lang="es-ES" dirty="0"/>
              <a:t>Ejemplo:</a:t>
            </a:r>
          </a:p>
          <a:p>
            <a:r>
              <a:rPr lang="es-ES" dirty="0"/>
              <a:t>Vimos que las cadenas tienen un método </a:t>
            </a:r>
            <a:r>
              <a:rPr lang="es-ES" dirty="0" err="1"/>
              <a:t>upper</a:t>
            </a:r>
            <a:r>
              <a:rPr lang="es-ES" dirty="0"/>
              <a:t>() que convierte la cadena en mayúsculas y otro método </a:t>
            </a:r>
            <a:r>
              <a:rPr lang="es-ES" dirty="0" err="1"/>
              <a:t>lower</a:t>
            </a:r>
            <a:r>
              <a:rPr lang="es-ES" dirty="0"/>
              <a:t>() que convierte la cadena en minúsculas.</a:t>
            </a:r>
          </a:p>
          <a:p>
            <a:r>
              <a:rPr lang="es-ES" dirty="0"/>
              <a:t>Estos dos métodos son inherentes únicamente a esta clase de objeto</a:t>
            </a:r>
          </a:p>
          <a:p>
            <a:r>
              <a:rPr lang="es-ES" dirty="0"/>
              <a:t>Para aplicar este método a la cadena c se utiliza la instrucción </a:t>
            </a:r>
            <a:r>
              <a:rPr lang="es-ES" dirty="0" err="1"/>
              <a:t>c.upper</a:t>
            </a:r>
            <a:r>
              <a:rPr lang="es-ES" dirty="0"/>
              <a:t>() o </a:t>
            </a:r>
            <a:r>
              <a:rPr lang="es-ES" dirty="0" err="1"/>
              <a:t>c.lower</a:t>
            </a:r>
            <a:r>
              <a:rPr lang="es-ES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364971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6667633-7C6D-040C-E5DC-DB5D01D28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03" y="1254868"/>
            <a:ext cx="9388049" cy="16154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937F9B-2A89-3ED5-FDFA-4416C4DF1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598" y="3615143"/>
            <a:ext cx="10421114" cy="198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823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3CBBAE-7B8D-87DD-F859-91B02B50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2.1 Definición de la clase de objeto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58D0BA-74B2-671C-FAF1-149AB4DD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63" y="1740288"/>
            <a:ext cx="11924673" cy="337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93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79A24ED-C677-E2A2-0B16-B1237CA02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22" y="1518226"/>
            <a:ext cx="11588155" cy="4230824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528141AD-6994-F06F-9A2B-952628C9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ES" dirty="0"/>
              <a:t>2. Definición de atributos y métodos</a:t>
            </a:r>
          </a:p>
        </p:txBody>
      </p:sp>
    </p:spTree>
    <p:extLst>
      <p:ext uri="{BB962C8B-B14F-4D97-AF65-F5344CB8AC3E}">
        <p14:creationId xmlns:p14="http://schemas.microsoft.com/office/powerpoint/2010/main" val="2681037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BECA0-3566-E781-9505-122245D71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Clases primitivas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3EDBDE-E054-C709-CA8D-BC928F9DC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81" y="1548319"/>
            <a:ext cx="9297007" cy="504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A9AF9A-71BF-634E-5E54-340F92B40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98" y="353642"/>
            <a:ext cx="9517218" cy="539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453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1F55CCA-9A5C-B4E9-5032-0F0BD587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94" y="519112"/>
            <a:ext cx="809625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00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B26446B-89DA-CAFB-F01C-A89AA5AAA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47" y="575249"/>
            <a:ext cx="9251734" cy="541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18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94E5B13-1709-18DE-2D09-162865C6E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57" y="290512"/>
            <a:ext cx="774382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61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1BE4794-0C6C-23A4-3CBA-B1073EFB1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59" y="526915"/>
            <a:ext cx="79248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26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CE27EFF-101F-0BC5-EA19-99269F620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275" y="1785937"/>
            <a:ext cx="7791450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20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66C99-478C-1ED1-44F8-1A2FF958E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F7FFC96-074A-6710-18C2-17EA3EEBE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98" y="379581"/>
            <a:ext cx="795337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4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B3ABF-AA29-C3D6-6F6F-DEA508C57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F2D0C0-ADF6-30F6-4705-80A5B73DC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4" y="243394"/>
            <a:ext cx="8124825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47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9D002-C179-2B64-0FD5-6097F81C5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EF9FFA-BE75-EC6C-F6E6-95CAB0A6B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85" y="1212310"/>
            <a:ext cx="11743430" cy="290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1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4E6B-2654-0C9F-EBF3-8CD0C7EEE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CBD7F42-BD1B-00BF-B95F-C25D3E09B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495300"/>
            <a:ext cx="80486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51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28D37-29E7-FE43-4773-0C1A43F1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634F16CF-92B6-30CE-FF5C-4C46E4365188}"/>
              </a:ext>
            </a:extLst>
          </p:cNvPr>
          <p:cNvGrpSpPr/>
          <p:nvPr/>
        </p:nvGrpSpPr>
        <p:grpSpPr>
          <a:xfrm>
            <a:off x="1465735" y="238733"/>
            <a:ext cx="7830565" cy="5065982"/>
            <a:chOff x="1465735" y="238733"/>
            <a:chExt cx="7830565" cy="5065982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DE5E0888-1DDC-9E87-BFB8-CF4872D14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5735" y="238733"/>
              <a:ext cx="7781925" cy="4610100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0A0D30C-19EF-165A-9276-B9D5592F0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9625" y="4685590"/>
              <a:ext cx="7686675" cy="6191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335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F6AC-D7E4-C702-B678-1967A16F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51290F-EA22-4F0D-100F-26603DCD7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80" y="403799"/>
            <a:ext cx="775335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24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1F0F1-9DAF-0E56-0F8D-4F0BBCA47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533983-454E-6180-5BF0-5F2F4E5A9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1" y="135984"/>
            <a:ext cx="7715250" cy="683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026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B6CEE-A510-2F77-EA74-75362046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29E7220-0BB4-E7C5-CAF8-F50F280C6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262" y="523875"/>
            <a:ext cx="7991475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672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C7B55-3261-AD7F-94C6-C0D9EEBD2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AC5F4C0-BD59-4A4A-F5F4-497DCC369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38" y="239645"/>
            <a:ext cx="8096250" cy="51530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66BB6BE-3B66-9586-B3F7-889B72B3C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53" y="5014001"/>
            <a:ext cx="763905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955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5A7DD-55A2-64DC-819E-706CA8FBE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BE5F4F-B4D3-C498-7EF3-1C5708CA3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23812"/>
            <a:ext cx="7743825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3359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EDB11-E87E-9B2C-1F59-4380D3716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DE78141-3874-F4A3-67AE-3625144C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2" y="1681162"/>
            <a:ext cx="81057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93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F450-5F9F-BF20-BC96-048508E10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A08CF1-7E25-2CE4-28E6-FF44DF1DA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2" y="409575"/>
            <a:ext cx="8067675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004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416</Words>
  <Application>Microsoft Office PowerPoint</Application>
  <PresentationFormat>Panorámica</PresentationFormat>
  <Paragraphs>34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Tema de Office</vt:lpstr>
      <vt:lpstr>Programación orientada a objetos</vt:lpstr>
      <vt:lpstr>1 - ¿Qué es la programación orientada a objetos?</vt:lpstr>
      <vt:lpstr>1.1 Las clases y sus atributos</vt:lpstr>
      <vt:lpstr>1.2 Las clases y sus métodos</vt:lpstr>
      <vt:lpstr>Presentación de PowerPoint</vt:lpstr>
      <vt:lpstr>2-Acceso a los atributos y métodos de un objeto</vt:lpstr>
      <vt:lpstr>Presentación de PowerPoint</vt:lpstr>
      <vt:lpstr>2.1 Definición de la clase de objeto</vt:lpstr>
      <vt:lpstr>2. Definición de atributos y métodos</vt:lpstr>
      <vt:lpstr>3. Clases primitivas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Granda</dc:creator>
  <cp:lastModifiedBy>Javier Granda</cp:lastModifiedBy>
  <cp:revision>7</cp:revision>
  <dcterms:created xsi:type="dcterms:W3CDTF">2025-10-28T15:13:46Z</dcterms:created>
  <dcterms:modified xsi:type="dcterms:W3CDTF">2026-01-13T07:43:17Z</dcterms:modified>
</cp:coreProperties>
</file>